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284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29692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626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7258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1336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987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863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5254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7D525BB-DA17-4BA0-B3C8-3AC3ABC827E6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729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4860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791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9676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pPr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454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6265B5-B87C-4C91-B380-36C3889AF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999" y="2172423"/>
            <a:ext cx="8674654" cy="173455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PENAPOLISTEROL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chiqindilarni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qayta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ishlash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asosida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TERMO PONELLAR ISHLAB CHIQARISH.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DD103E9A-09F2-44AB-856C-FF57487CB092}"/>
              </a:ext>
            </a:extLst>
          </p:cNvPr>
          <p:cNvSpPr/>
          <p:nvPr/>
        </p:nvSpPr>
        <p:spPr>
          <a:xfrm rot="16200000">
            <a:off x="8837641" y="2027584"/>
            <a:ext cx="522623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STARTAP</a:t>
            </a:r>
            <a:endParaRPr lang="ru-RU" sz="9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7C38592-0B14-475C-9ADF-D78CFD79D2CD}"/>
              </a:ext>
            </a:extLst>
          </p:cNvPr>
          <p:cNvSpPr/>
          <p:nvPr/>
        </p:nvSpPr>
        <p:spPr>
          <a:xfrm>
            <a:off x="5440524" y="4790558"/>
            <a:ext cx="4992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Loyiha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raxbari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dirty="0" err="1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Dimurod</a:t>
            </a:r>
            <a:r>
              <a:rPr lang="en-US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 err="1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Mamatqulov</a:t>
            </a:r>
            <a:r>
              <a:rPr lang="en-US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 err="1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Erkin</a:t>
            </a:r>
            <a:r>
              <a:rPr lang="en-US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 err="1" smtClean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o’g’li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2D4B7245-D952-4A60-80FC-4A7D89EED724}"/>
              </a:ext>
            </a:extLst>
          </p:cNvPr>
          <p:cNvSpPr/>
          <p:nvPr/>
        </p:nvSpPr>
        <p:spPr>
          <a:xfrm>
            <a:off x="5440524" y="4504511"/>
            <a:ext cx="2409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“DESIGN AZIKO”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MCHJ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A131B68-909D-4C2B-A2E9-71C99C1797B6}"/>
              </a:ext>
            </a:extLst>
          </p:cNvPr>
          <p:cNvSpPr/>
          <p:nvPr/>
        </p:nvSpPr>
        <p:spPr>
          <a:xfrm>
            <a:off x="4179923" y="5991999"/>
            <a:ext cx="668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Birgalikda moliyalashtirish hajmi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00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000,0    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so’m</a:t>
            </a:r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D66D3513-AFE7-87EA-D763-D8843C1E58AD}"/>
              </a:ext>
            </a:extLst>
          </p:cNvPr>
          <p:cNvSpPr/>
          <p:nvPr/>
        </p:nvSpPr>
        <p:spPr>
          <a:xfrm>
            <a:off x="4179923" y="5425534"/>
            <a:ext cx="6090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Umumiy moliyalashtirish hajmi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ru-RU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5 3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00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00</a:t>
            </a:r>
            <a:r>
              <a:rPr lang="uz-Cyrl-UZ" dirty="0">
                <a:latin typeface="Cambria" panose="02040503050406030204" pitchFamily="18" charset="0"/>
                <a:ea typeface="Cambria" panose="02040503050406030204" pitchFamily="18" charset="0"/>
              </a:rPr>
              <a:t>0,0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so’m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AB0BF3B1-13F2-7DAE-5895-B7429117D2DD}"/>
              </a:ext>
            </a:extLst>
          </p:cNvPr>
          <p:cNvSpPr/>
          <p:nvPr/>
        </p:nvSpPr>
        <p:spPr>
          <a:xfrm>
            <a:off x="4179923" y="5703970"/>
            <a:ext cx="6486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Agent</a:t>
            </a:r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likning moliyaviy mablag‘lari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 smtClean="0">
                <a:latin typeface="Cambria" panose="02040503050406030204" pitchFamily="18" charset="0"/>
                <a:ea typeface="Cambria" panose="02040503050406030204" pitchFamily="18" charset="0"/>
              </a:rPr>
              <a:t> 3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00 </a:t>
            </a:r>
            <a:r>
              <a:rPr lang="uz-Cyrl-UZ" dirty="0">
                <a:latin typeface="Cambria" panose="02040503050406030204" pitchFamily="18" charset="0"/>
                <a:ea typeface="Cambria" panose="02040503050406030204" pitchFamily="18" charset="0"/>
              </a:rPr>
              <a:t>000,0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so’m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A3D897E9-6F30-21ED-4DF1-0F9B690F8CC0}"/>
              </a:ext>
            </a:extLst>
          </p:cNvPr>
          <p:cNvGrpSpPr/>
          <p:nvPr/>
        </p:nvGrpSpPr>
        <p:grpSpPr>
          <a:xfrm>
            <a:off x="399754" y="199294"/>
            <a:ext cx="3188396" cy="1333942"/>
            <a:chOff x="399754" y="199294"/>
            <a:chExt cx="3188396" cy="1333942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xmlns="" id="{F897FA10-DFC3-3BE1-D38C-140A88B92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754" y="199294"/>
              <a:ext cx="1038163" cy="133394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8F393A01-0263-F7BB-CC3C-70169885EF7D}"/>
                </a:ext>
              </a:extLst>
            </p:cNvPr>
            <p:cNvSpPr txBox="1"/>
            <p:nvPr/>
          </p:nvSpPr>
          <p:spPr>
            <a:xfrm>
              <a:off x="1194847" y="326452"/>
              <a:ext cx="23933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INNOVATSION RIVOJLANTIRISH AGENTLIGI</a:t>
              </a:r>
              <a:endParaRPr lang="ru-RU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34163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A41A65B-37C1-4765-98B4-51EEA9F3C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684" y="1176326"/>
            <a:ext cx="10894653" cy="1077229"/>
          </a:xfrm>
        </p:spPr>
        <p:txBody>
          <a:bodyPr>
            <a:normAutofit fontScale="90000"/>
          </a:bodyPr>
          <a:lstStyle/>
          <a:p>
            <a:pPr algn="l"/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LOYIHA HAQIDA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QISQACHA MA’LUMOT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7416685-4B9C-4EC6-AEE7-D2CD04AEF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86" y="1969996"/>
            <a:ext cx="10894654" cy="224640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    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Xitoy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davlatidan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keltiriladigan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zamonaviy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texnologik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jihozlar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100%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maxalliy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xom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ashyodan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xalqaro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standartlari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normalariga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javob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beradigan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TERMOPONEL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chiqariladi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xmlns="" id="{3339F51A-0D05-7CB5-C12B-7FE57C731D1C}"/>
              </a:ext>
            </a:extLst>
          </p:cNvPr>
          <p:cNvGrpSpPr/>
          <p:nvPr/>
        </p:nvGrpSpPr>
        <p:grpSpPr>
          <a:xfrm>
            <a:off x="125434" y="118016"/>
            <a:ext cx="2343445" cy="533557"/>
            <a:chOff x="399754" y="199294"/>
            <a:chExt cx="5858831" cy="1333942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xmlns="" id="{11F9E9DD-97BC-0687-CC02-FD409CBAD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754" y="199294"/>
              <a:ext cx="1038163" cy="13339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6BCFCCEE-48FD-9297-1939-7D668BA8AB9B}"/>
                </a:ext>
              </a:extLst>
            </p:cNvPr>
            <p:cNvSpPr txBox="1"/>
            <p:nvPr/>
          </p:nvSpPr>
          <p:spPr>
            <a:xfrm>
              <a:off x="1220245" y="370910"/>
              <a:ext cx="5038340" cy="1000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INNOVATSION RIVOJLANTIRISH AGENTLIGI</a:t>
              </a:r>
              <a:endParaRPr lang="ru-RU" sz="1000" b="1" dirty="0"/>
            </a:p>
          </p:txBody>
        </p:sp>
      </p:grpSp>
      <p:pic>
        <p:nvPicPr>
          <p:cNvPr id="1026" name="Picture 2" descr="C:\Users\ELYOR\Downloads\Telegram Desktop\photo_2023-10-31_18-26-3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3004" y="3352197"/>
            <a:ext cx="3738945" cy="2804209"/>
          </a:xfrm>
          <a:prstGeom prst="rect">
            <a:avLst/>
          </a:prstGeom>
          <a:noFill/>
        </p:spPr>
      </p:pic>
      <p:pic>
        <p:nvPicPr>
          <p:cNvPr id="4" name="Picture 4" descr="C:\Users\ELYOR\Downloads\Telegram Desktop\photo_2023-10-31_18-26-3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58113" y="2952750"/>
            <a:ext cx="2902675" cy="3144837"/>
          </a:xfrm>
          <a:prstGeom prst="rect">
            <a:avLst/>
          </a:prstGeom>
          <a:noFill/>
        </p:spPr>
      </p:pic>
      <p:pic>
        <p:nvPicPr>
          <p:cNvPr id="1029" name="Picture 5" descr="C:\Users\ELYOR\Downloads\Telegram Desktop\photo_2023-10-31_18-26-30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43412" y="3082974"/>
            <a:ext cx="2890837" cy="3070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28198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EC366F8-078E-4D62-977E-1953A9F33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651573"/>
            <a:ext cx="11765280" cy="5678107"/>
          </a:xfrm>
        </p:spPr>
        <p:txBody>
          <a:bodyPr>
            <a:normAutofit/>
          </a:bodyPr>
          <a:lstStyle/>
          <a:p>
            <a:pPr algn="just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lang="uz-Cyrl-UZ" dirty="0">
                <a:latin typeface="Cambria" panose="02040503050406030204" pitchFamily="18" charset="0"/>
                <a:ea typeface="Cambria" panose="02040503050406030204" pitchFamily="18" charset="0"/>
              </a:rPr>
              <a:t>     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Bugungi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kunda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Penapolesteroldan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deyarli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barcha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turdgi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maxsulotlarni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qadoqlash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omalashgan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penapolesterol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penoplast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chiqindilarni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qayta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ishlash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asosida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turli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texnologiyalar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usullar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qayta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tozalanib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Termoponel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chiqarish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bu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atrof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muxitga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tashlanayotgan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chiqindilarni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kamaytirishga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e'tibor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qaratilmoqda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lang="uz-Cyrl-UZ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jarayon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quyidagicha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davom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etadi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lang="uz-Cyrl-UZ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Chiqindi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penoplastni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maxsus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drabilka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granula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xolatiga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olib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kelib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uskunalar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qayta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quyiladi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xmlns="" id="{F8A34F38-06BC-4375-80B3-56703FB3C007}"/>
              </a:ext>
            </a:extLst>
          </p:cNvPr>
          <p:cNvGrpSpPr/>
          <p:nvPr/>
        </p:nvGrpSpPr>
        <p:grpSpPr>
          <a:xfrm>
            <a:off x="125434" y="118016"/>
            <a:ext cx="2343445" cy="533557"/>
            <a:chOff x="399754" y="199294"/>
            <a:chExt cx="5858831" cy="1333942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xmlns="" id="{906BD6FC-CCB6-30B3-2F37-943CB09C7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754" y="199294"/>
              <a:ext cx="1038163" cy="133394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394964C3-8C83-9F78-C475-6A0096A91F0B}"/>
                </a:ext>
              </a:extLst>
            </p:cNvPr>
            <p:cNvSpPr txBox="1"/>
            <p:nvPr/>
          </p:nvSpPr>
          <p:spPr>
            <a:xfrm>
              <a:off x="1220245" y="370910"/>
              <a:ext cx="5038340" cy="1000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Cambria" panose="02040503050406030204" pitchFamily="18" charset="0"/>
                  <a:ea typeface="Cambria" panose="02040503050406030204" pitchFamily="18" charset="0"/>
                </a:rPr>
                <a:t>INNOVATSION RIVOJLANTIRISH AGENTLIGI</a:t>
              </a:r>
              <a:endParaRPr lang="ru-RU" sz="1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84476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424505B-7C28-455F-88DF-F4FAB855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248" y="1240581"/>
            <a:ext cx="10699243" cy="1077229"/>
          </a:xfrm>
        </p:spPr>
        <p:txBody>
          <a:bodyPr>
            <a:normAutofit fontScale="90000"/>
          </a:bodyPr>
          <a:lstStyle/>
          <a:p>
            <a:pPr algn="ctr"/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Loyihani hududning va tarmoqning ijtimoiy-iqtisodiy  rivojlantirishga ta’siri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BF16AE3-525E-45A4-9D9F-FEC6D90F8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2043354"/>
            <a:ext cx="11625328" cy="417472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uz-Cyrl-UZ" dirty="0">
                <a:latin typeface="Cambria" panose="02040503050406030204" pitchFamily="18" charset="0"/>
                <a:ea typeface="Cambria" panose="02040503050406030204" pitchFamily="18" charset="0"/>
              </a:rPr>
              <a:t>            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Davlatobod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innovatsion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tumani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Yuksalish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yoshlar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kichik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sanoat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zonasida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amalga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oshiriladigan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loyiha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foydalanishga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topshirilishi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hisobiga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yiliga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60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ming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m2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energiya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tejovchi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termoponel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mahsulotlari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chiqariladi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uz-Cyrl-UZ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uz-Cyrl-UZ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Shu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birgalikda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10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doimiy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ish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o‘rinlari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yaratilishi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hisobiga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Yoshlar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daftari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”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“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Ayollar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daftari”ga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kiritilgan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fuqarolarni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ish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ta'minlanadi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Yangi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turdagi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innovatsion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mahsulot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chiqarish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yo‘lga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qo‘yiladi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55FE0D2-AD8B-4E3E-A7BB-8BAE3A24FD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75061" y="4103655"/>
            <a:ext cx="2114427" cy="2114427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CAA646D5-1E86-CA7D-FE43-A03C15308D8B}"/>
              </a:ext>
            </a:extLst>
          </p:cNvPr>
          <p:cNvGrpSpPr/>
          <p:nvPr/>
        </p:nvGrpSpPr>
        <p:grpSpPr>
          <a:xfrm>
            <a:off x="125434" y="118016"/>
            <a:ext cx="2343445" cy="533557"/>
            <a:chOff x="399754" y="199294"/>
            <a:chExt cx="5858831" cy="133394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xmlns="" id="{5571FF84-DF9A-0AF3-80E9-88CE7A03B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754" y="199294"/>
              <a:ext cx="1038163" cy="133394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F3589E94-9076-68B8-EF28-E4C7BD18525A}"/>
                </a:ext>
              </a:extLst>
            </p:cNvPr>
            <p:cNvSpPr txBox="1"/>
            <p:nvPr/>
          </p:nvSpPr>
          <p:spPr>
            <a:xfrm>
              <a:off x="1220245" y="370910"/>
              <a:ext cx="5038340" cy="1000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Cambria" panose="02040503050406030204" pitchFamily="18" charset="0"/>
                  <a:ea typeface="Cambria" panose="02040503050406030204" pitchFamily="18" charset="0"/>
                </a:rPr>
                <a:t>INNOVATSION RIVOJLANTIRISH AGENTLIGI</a:t>
              </a:r>
              <a:endParaRPr lang="ru-RU" sz="1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39434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14A7F5B-3D49-48EC-83A6-AA1644F5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834" y="567783"/>
            <a:ext cx="7958331" cy="1077229"/>
          </a:xfrm>
        </p:spPr>
        <p:txBody>
          <a:bodyPr/>
          <a:lstStyle/>
          <a:p>
            <a:pPr algn="ctr"/>
            <a:r>
              <a:rPr lang="uz-Cyrl-UZ" b="1" dirty="0"/>
              <a:t>LOYIHANING BOSQICHLARI</a:t>
            </a:r>
            <a:r>
              <a:rPr lang="uz-Cyrl-UZ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23D3537-C16D-460D-A7A7-58C04755D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684" y="2092678"/>
            <a:ext cx="11236960" cy="3997828"/>
          </a:xfrm>
        </p:spPr>
        <p:txBody>
          <a:bodyPr>
            <a:normAutofit/>
          </a:bodyPr>
          <a:lstStyle/>
          <a:p>
            <a:r>
              <a:rPr lang="en-US" b="1" dirty="0"/>
              <a:t>I – BOSQICH: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uskunalarni</a:t>
            </a:r>
            <a:r>
              <a:rPr lang="en-US" dirty="0"/>
              <a:t> import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kelinadi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o‘rnatiladi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II – BOSQICH: </a:t>
            </a:r>
            <a:r>
              <a:rPr lang="en-US" dirty="0" err="1"/>
              <a:t>Yonilg‘i</a:t>
            </a:r>
            <a:r>
              <a:rPr lang="en-US" dirty="0"/>
              <a:t> </a:t>
            </a:r>
            <a:r>
              <a:rPr lang="en-US" dirty="0" err="1"/>
              <a:t>moy</a:t>
            </a:r>
            <a:r>
              <a:rPr lang="en-US" dirty="0"/>
              <a:t> </a:t>
            </a:r>
            <a:r>
              <a:rPr lang="en-US" dirty="0" err="1"/>
              <a:t>hom-ashyosi</a:t>
            </a:r>
            <a:r>
              <a:rPr lang="en-US" dirty="0"/>
              <a:t> </a:t>
            </a:r>
            <a:r>
              <a:rPr lang="en-US" dirty="0" err="1"/>
              <a:t>mahsulotlari</a:t>
            </a:r>
            <a:r>
              <a:rPr lang="en-US" dirty="0"/>
              <a:t> </a:t>
            </a:r>
            <a:r>
              <a:rPr lang="en-US" dirty="0" err="1"/>
              <a:t>yetkazib</a:t>
            </a:r>
            <a:r>
              <a:rPr lang="en-US" dirty="0"/>
              <a:t> </a:t>
            </a:r>
            <a:r>
              <a:rPr lang="en-US" dirty="0" err="1"/>
              <a:t>beruvchilar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shartnomalar</a:t>
            </a:r>
            <a:r>
              <a:rPr lang="en-US" dirty="0"/>
              <a:t> </a:t>
            </a:r>
            <a:r>
              <a:rPr lang="en-US" dirty="0" err="1"/>
              <a:t>imzolash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III – BOSQICH: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chiqarishni</a:t>
            </a:r>
            <a:r>
              <a:rPr lang="en-US" dirty="0"/>
              <a:t> </a:t>
            </a:r>
            <a:r>
              <a:rPr lang="en-US" dirty="0" err="1"/>
              <a:t>yo‘lga</a:t>
            </a:r>
            <a:r>
              <a:rPr lang="en-US" dirty="0"/>
              <a:t> </a:t>
            </a:r>
            <a:r>
              <a:rPr lang="en-US" dirty="0" err="1"/>
              <a:t>qo‘yish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IV – BOSQICH: </a:t>
            </a:r>
            <a:r>
              <a:rPr lang="en-US" dirty="0" err="1"/>
              <a:t>Chiqarilgan</a:t>
            </a:r>
            <a:r>
              <a:rPr lang="en-US" dirty="0"/>
              <a:t> </a:t>
            </a:r>
            <a:r>
              <a:rPr lang="en-US" dirty="0" err="1"/>
              <a:t>mahsulotlarni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bozorda</a:t>
            </a:r>
            <a:r>
              <a:rPr lang="en-US" dirty="0"/>
              <a:t> </a:t>
            </a:r>
            <a:r>
              <a:rPr lang="en-US" dirty="0" err="1"/>
              <a:t>riteyllar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ulgurji</a:t>
            </a:r>
            <a:r>
              <a:rPr lang="en-US" dirty="0"/>
              <a:t> </a:t>
            </a:r>
            <a:r>
              <a:rPr lang="en-US" dirty="0" err="1"/>
              <a:t>xaridorlar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sotish</a:t>
            </a:r>
            <a:r>
              <a:rPr lang="en-US" dirty="0"/>
              <a:t>.</a:t>
            </a:r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xmlns="" id="{C8CF7ABE-AEFB-C13D-7730-37407A7C588C}"/>
              </a:ext>
            </a:extLst>
          </p:cNvPr>
          <p:cNvGrpSpPr/>
          <p:nvPr/>
        </p:nvGrpSpPr>
        <p:grpSpPr>
          <a:xfrm>
            <a:off x="125434" y="118016"/>
            <a:ext cx="2343445" cy="533557"/>
            <a:chOff x="399754" y="199294"/>
            <a:chExt cx="5858831" cy="1333942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xmlns="" id="{F704A55F-9FD2-EAB1-7366-9B792C6A7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754" y="199294"/>
              <a:ext cx="1038163" cy="13339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42784DA3-6BB9-8855-C7FE-24D8DE2D89F0}"/>
                </a:ext>
              </a:extLst>
            </p:cNvPr>
            <p:cNvSpPr txBox="1"/>
            <p:nvPr/>
          </p:nvSpPr>
          <p:spPr>
            <a:xfrm>
              <a:off x="1220245" y="370910"/>
              <a:ext cx="5038340" cy="1000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Cambria" panose="02040503050406030204" pitchFamily="18" charset="0"/>
                  <a:ea typeface="Cambria" panose="02040503050406030204" pitchFamily="18" charset="0"/>
                </a:rPr>
                <a:t>INNOVATSION RIVOJLANTIRISH AGENTLIGI</a:t>
              </a:r>
              <a:endParaRPr lang="ru-RU" sz="1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51192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F463AA2-1CBB-421E-9516-36CE6DDD9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458" y="471187"/>
            <a:ext cx="4995582" cy="792480"/>
          </a:xfrm>
        </p:spPr>
        <p:txBody>
          <a:bodyPr>
            <a:normAutofit/>
          </a:bodyPr>
          <a:lstStyle/>
          <a:p>
            <a:r>
              <a:rPr lang="uz-Cyrl-UZ" b="1" dirty="0"/>
              <a:t>MARKETING TAHLILI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B09534B-7BDF-4BC4-8BA4-9868F2BE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570" y="2310271"/>
            <a:ext cx="10158630" cy="328406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              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chiqarishda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xom</a:t>
            </a:r>
            <a:r>
              <a:rPr lang="en-US" dirty="0"/>
              <a:t> </a:t>
            </a:r>
            <a:r>
              <a:rPr lang="en-US" dirty="0" err="1"/>
              <a:t>ashyo</a:t>
            </a:r>
            <a:r>
              <a:rPr lang="en-US" dirty="0"/>
              <a:t> </a:t>
            </a:r>
            <a:r>
              <a:rPr lang="en-US" dirty="0" err="1" smtClean="0"/>
              <a:t>penoplast</a:t>
            </a:r>
            <a:r>
              <a:rPr lang="en-US" dirty="0" smtClean="0"/>
              <a:t> </a:t>
            </a:r>
            <a:r>
              <a:rPr lang="en-US" dirty="0" err="1" smtClean="0"/>
              <a:t>maxsulotlar</a:t>
            </a:r>
            <a:r>
              <a:rPr lang="en-US" dirty="0" smtClean="0"/>
              <a:t> </a:t>
            </a:r>
            <a:r>
              <a:rPr lang="en-US" dirty="0" err="1"/>
              <a:t>bulganligi</a:t>
            </a:r>
            <a:r>
              <a:rPr lang="en-US" dirty="0"/>
              <a:t> </a:t>
            </a:r>
            <a:r>
              <a:rPr lang="en-US" dirty="0" err="1"/>
              <a:t>sababli</a:t>
            </a:r>
            <a:r>
              <a:rPr lang="en-US" dirty="0"/>
              <a:t> </a:t>
            </a:r>
            <a:r>
              <a:rPr lang="en-US" dirty="0" err="1" smtClean="0"/>
              <a:t>penoplast</a:t>
            </a:r>
            <a:r>
              <a:rPr lang="en-US" dirty="0" smtClean="0"/>
              <a:t> </a:t>
            </a:r>
            <a:r>
              <a:rPr lang="en-US" dirty="0" err="1" smtClean="0"/>
              <a:t>kabul</a:t>
            </a:r>
            <a:r>
              <a:rPr lang="en-US" dirty="0" smtClean="0"/>
              <a:t>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punktlari</a:t>
            </a:r>
            <a:r>
              <a:rPr lang="en-US" dirty="0"/>
              <a:t> </a:t>
            </a:r>
            <a:r>
              <a:rPr lang="en-US" dirty="0" err="1"/>
              <a:t>tashkil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viloyatdagi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 smtClean="0"/>
              <a:t>tozza</a:t>
            </a:r>
            <a:r>
              <a:rPr lang="en-US" dirty="0" smtClean="0"/>
              <a:t> </a:t>
            </a:r>
            <a:r>
              <a:rPr lang="en-US" dirty="0" err="1" smtClean="0"/>
              <a:t>xudud</a:t>
            </a:r>
            <a:r>
              <a:rPr lang="en-US" dirty="0" smtClean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 smtClean="0"/>
              <a:t>penoplast</a:t>
            </a:r>
            <a:r>
              <a:rPr lang="en-US" dirty="0" smtClean="0"/>
              <a:t> </a:t>
            </a:r>
            <a:r>
              <a:rPr lang="en-US" dirty="0" err="1" smtClean="0"/>
              <a:t>sotib</a:t>
            </a:r>
            <a:r>
              <a:rPr lang="en-US" dirty="0" smtClean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buyicha</a:t>
            </a:r>
            <a:r>
              <a:rPr lang="en-US" dirty="0"/>
              <a:t> </a:t>
            </a:r>
            <a:r>
              <a:rPr lang="en-US" dirty="0" err="1"/>
              <a:t>shartnomalar</a:t>
            </a:r>
            <a:r>
              <a:rPr lang="en-US" dirty="0"/>
              <a:t> </a:t>
            </a:r>
            <a:r>
              <a:rPr lang="en-US" dirty="0" err="1"/>
              <a:t>tuzish</a:t>
            </a:r>
            <a:r>
              <a:rPr lang="en-US" dirty="0"/>
              <a:t>. </a:t>
            </a:r>
            <a:r>
              <a:rPr lang="en-US" dirty="0" err="1"/>
              <a:t>Xozirgi</a:t>
            </a:r>
            <a:r>
              <a:rPr lang="en-US" dirty="0"/>
              <a:t> </a:t>
            </a:r>
            <a:r>
              <a:rPr lang="en-US" dirty="0" err="1" smtClean="0"/>
              <a:t>kunda</a:t>
            </a:r>
            <a:r>
              <a:rPr lang="en-US" dirty="0" smtClean="0"/>
              <a:t> </a:t>
            </a:r>
            <a:r>
              <a:rPr lang="en-US" dirty="0" err="1" smtClean="0"/>
              <a:t>termo</a:t>
            </a:r>
            <a:r>
              <a:rPr lang="en-US" dirty="0" smtClean="0"/>
              <a:t> </a:t>
            </a:r>
            <a:r>
              <a:rPr lang="en-US" dirty="0" err="1" smtClean="0"/>
              <a:t>ponellar</a:t>
            </a:r>
            <a:r>
              <a:rPr lang="en-US" dirty="0" smtClean="0"/>
              <a:t> </a:t>
            </a:r>
            <a:r>
              <a:rPr lang="en-US" dirty="0" err="1" smtClean="0"/>
              <a:t>binolar</a:t>
            </a:r>
            <a:r>
              <a:rPr lang="en-US" dirty="0" smtClean="0"/>
              <a:t> </a:t>
            </a:r>
            <a:r>
              <a:rPr lang="en-US" dirty="0" err="1" smtClean="0"/>
              <a:t>uchun</a:t>
            </a:r>
            <a:r>
              <a:rPr lang="en-US" dirty="0" smtClean="0"/>
              <a:t> eng </a:t>
            </a:r>
            <a:r>
              <a:rPr lang="en-US" dirty="0" err="1" smtClean="0"/>
              <a:t>arzon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energiya</a:t>
            </a:r>
            <a:r>
              <a:rPr lang="en-US" dirty="0" smtClean="0"/>
              <a:t> </a:t>
            </a:r>
            <a:r>
              <a:rPr lang="en-US" dirty="0" err="1" smtClean="0"/>
              <a:t>tejovchi</a:t>
            </a:r>
            <a:r>
              <a:rPr lang="en-US" dirty="0" smtClean="0"/>
              <a:t> material </a:t>
            </a:r>
            <a:r>
              <a:rPr lang="en-US" dirty="0" err="1" smtClean="0"/>
              <a:t>xisoblanadi</a:t>
            </a:r>
            <a:endParaRPr lang="en-US" dirty="0"/>
          </a:p>
          <a:p>
            <a:pPr algn="just"/>
            <a:r>
              <a:rPr lang="en-US" dirty="0"/>
              <a:t>                Marketing </a:t>
            </a:r>
            <a:r>
              <a:rPr lang="en-US" dirty="0" err="1"/>
              <a:t>strategiyasi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               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chikarilgan</a:t>
            </a:r>
            <a:r>
              <a:rPr lang="en-US" dirty="0"/>
              <a:t> </a:t>
            </a:r>
            <a:r>
              <a:rPr lang="en-US" dirty="0" err="1" smtClean="0"/>
              <a:t>termo</a:t>
            </a:r>
            <a:r>
              <a:rPr lang="en-US" dirty="0" smtClean="0"/>
              <a:t> </a:t>
            </a:r>
            <a:r>
              <a:rPr lang="en-US" dirty="0" err="1" smtClean="0"/>
              <a:t>ponellar</a:t>
            </a:r>
            <a:r>
              <a:rPr lang="en-US" dirty="0" smtClean="0"/>
              <a:t> </a:t>
            </a:r>
            <a:r>
              <a:rPr lang="en-US" dirty="0" err="1" smtClean="0"/>
              <a:t>kelgusida</a:t>
            </a:r>
            <a:r>
              <a:rPr lang="en-US" dirty="0" smtClean="0"/>
              <a:t> </a:t>
            </a:r>
            <a:r>
              <a:rPr lang="en-US" dirty="0" err="1"/>
              <a:t>chet</a:t>
            </a:r>
            <a:r>
              <a:rPr lang="en-US" dirty="0"/>
              <a:t> </a:t>
            </a:r>
            <a:r>
              <a:rPr lang="en-US" dirty="0" err="1"/>
              <a:t>ellarga</a:t>
            </a:r>
            <a:r>
              <a:rPr lang="en-US" dirty="0"/>
              <a:t> </a:t>
            </a:r>
            <a:r>
              <a:rPr lang="en-US" dirty="0" err="1"/>
              <a:t>eksport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imkoniyatlari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chiqilgan</a:t>
            </a:r>
            <a:r>
              <a:rPr lang="en-US" dirty="0"/>
              <a:t>.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39E45D89-376E-33AE-7477-B0036718D38C}"/>
              </a:ext>
            </a:extLst>
          </p:cNvPr>
          <p:cNvGrpSpPr/>
          <p:nvPr/>
        </p:nvGrpSpPr>
        <p:grpSpPr>
          <a:xfrm>
            <a:off x="125434" y="118016"/>
            <a:ext cx="2343445" cy="533557"/>
            <a:chOff x="399754" y="199294"/>
            <a:chExt cx="5858831" cy="1333942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xmlns="" id="{993D06C8-BACD-4CE8-DEA8-8F74AF8CB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754" y="199294"/>
              <a:ext cx="1038163" cy="133394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29C2BF87-5558-275E-55AD-31194C8E99C6}"/>
                </a:ext>
              </a:extLst>
            </p:cNvPr>
            <p:cNvSpPr txBox="1"/>
            <p:nvPr/>
          </p:nvSpPr>
          <p:spPr>
            <a:xfrm>
              <a:off x="1220245" y="370910"/>
              <a:ext cx="5038340" cy="1000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Cambria" panose="02040503050406030204" pitchFamily="18" charset="0"/>
                  <a:ea typeface="Cambria" panose="02040503050406030204" pitchFamily="18" charset="0"/>
                </a:rPr>
                <a:t>INNOVATSION RIVOJLANTIRISH AGENTLIGI</a:t>
              </a:r>
              <a:endParaRPr lang="ru-RU" sz="1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00687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6502E025-D0D3-4F4E-B1FA-7521437EE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705" y="0"/>
            <a:ext cx="108610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-Cyrl-UZ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XARAJATLAR SMETASI </a:t>
            </a:r>
            <a:endParaRPr lang="en-US" altLang="ru-RU"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uz-Cyrl-UZ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Chiqindi</a:t>
            </a:r>
            <a:r>
              <a:rPr lang="en-US" alt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penoplastdan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chiqindilari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chiqindilarni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qayta</a:t>
            </a:r>
            <a:r>
              <a:rPr lang="en-US" alt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ishlash</a:t>
            </a:r>
            <a:r>
              <a:rPr lang="en-US" alt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asosida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TERMO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ponel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maxsulotlari</a:t>
            </a:r>
            <a:r>
              <a:rPr lang="en-US" altLang="ru-RU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alt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chiqarish</a:t>
            </a:r>
            <a:r>
              <a:rPr kumimoji="0" lang="uz-Cyrl-UZ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33399" y="1574802"/>
          <a:ext cx="11057469" cy="4521201"/>
        </p:xfrm>
        <a:graphic>
          <a:graphicData uri="http://schemas.openxmlformats.org/drawingml/2006/table">
            <a:tbl>
              <a:tblPr/>
              <a:tblGrid>
                <a:gridCol w="4116150"/>
                <a:gridCol w="2172030"/>
                <a:gridCol w="2059605"/>
                <a:gridCol w="1300158"/>
                <a:gridCol w="1409526"/>
              </a:tblGrid>
              <a:tr h="1507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Xarajat turlari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Agent</a:t>
                      </a: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lik hisobidan </a:t>
                      </a:r>
                      <a:r>
                        <a:rPr lang="uz-Cyrl-UZ" sz="1200" i="1">
                          <a:latin typeface="Times New Roman"/>
                          <a:ea typeface="Calibri"/>
                          <a:cs typeface="Times New Roman"/>
                        </a:rPr>
                        <a:t>(ming soʻmda)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Birgalikda moliyalashtiradigan tashkilot hisobidan </a:t>
                      </a:r>
                      <a:r>
                        <a:rPr lang="uz-Cyrl-UZ" sz="1200" i="1">
                          <a:latin typeface="Times New Roman"/>
                          <a:ea typeface="Calibri"/>
                          <a:cs typeface="Times New Roman"/>
                        </a:rPr>
                        <a:t>(ming soʻmda)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Summa</a:t>
                      </a:r>
                      <a:b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</a:br>
                      <a:r>
                        <a:rPr lang="uz-Cyrl-UZ" sz="1200" i="1">
                          <a:latin typeface="Times New Roman"/>
                          <a:ea typeface="Calibri"/>
                          <a:cs typeface="Times New Roman"/>
                        </a:rPr>
                        <a:t>(ming soʻmda)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Umumiy xarajatlar</a:t>
                      </a: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-</a:t>
                      </a: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dagi ulushi foizda </a:t>
                      </a: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(%)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7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Ish xaqi fondi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uz-Cyrl-UZ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164 640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164 640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4,7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7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Ijtimoiy soliq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uz-Cyrl-UZ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19 757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19 757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0,6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5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Xomashyo va materiallarni sotib olish bilan bogʻliq xarajatlar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uz-Cyrl-UZ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1 311 000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1 311 000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37,1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5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Inventar, texnika va jihozlarni xarid qilish xarajatlari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 1</a:t>
                      </a: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12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00000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uz-Cyrl-UZ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300000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36,8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7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Boshqa xarajatlar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uz-Cyrl-UZ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739 369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739 369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>
                          <a:latin typeface="Times New Roman"/>
                          <a:ea typeface="Calibri"/>
                          <a:cs typeface="Times New Roman"/>
                        </a:rPr>
                        <a:t>20,9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7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Jami xarajatlar: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  1 300 000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2 234 766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>
                          <a:latin typeface="Times New Roman"/>
                          <a:ea typeface="Calibri"/>
                          <a:cs typeface="Times New Roman"/>
                        </a:rPr>
                        <a:t>3 534 766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atin typeface="Times New Roman"/>
                          <a:ea typeface="Calibri"/>
                          <a:cs typeface="Times New Roman"/>
                        </a:rPr>
                        <a:t>100,0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749" marR="6074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3025374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186</TotalTime>
  <Words>448</Words>
  <Application>Microsoft Office PowerPoint</Application>
  <PresentationFormat>Произвольный</PresentationFormat>
  <Paragraphs>66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Ретро</vt:lpstr>
      <vt:lpstr>PENAPOLISTEROL chiqindilarni qayta ishlash asosida: TERMO PONELLAR ISHLAB CHIQARISH.</vt:lpstr>
      <vt:lpstr>LOYIHA HAQIDA QISQACHA MA’LUMOT </vt:lpstr>
      <vt:lpstr>Слайд 3</vt:lpstr>
      <vt:lpstr>Loyihani hududning va tarmoqning ijtimoiy-iqtisodiy  rivojlantirishga ta’siri </vt:lpstr>
      <vt:lpstr>LOYIHANING BOSQICHLARI </vt:lpstr>
      <vt:lpstr>MARKETING TAHLILI 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Birlamchi va ikkilamchi qayta ishlanuvchi chiqindilar asosida dekorativ polimer kompozit qurilish materiallarini ishlab chiqarish</dc:title>
  <dc:creator>adon Major</dc:creator>
  <cp:lastModifiedBy>ELYOR</cp:lastModifiedBy>
  <cp:revision>14</cp:revision>
  <dcterms:created xsi:type="dcterms:W3CDTF">2023-08-01T04:48:51Z</dcterms:created>
  <dcterms:modified xsi:type="dcterms:W3CDTF">2023-10-31T14:13:31Z</dcterms:modified>
</cp:coreProperties>
</file>